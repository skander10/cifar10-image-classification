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Validation Accuracy (%)</c:v>
                </c:pt>
              </c:strCache>
            </c:strRef>
          </c:tx>
          <c:spPr>
            <a:solidFill>
              <a:srgbClr val="1C729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0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5FCBB5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1C7293"/>
              </a:solidFill>
              <a:effectLst/>
            </c:spPr>
          </c:dPt>
          <c:cat>
            <c:multiLvlStrRef>
              <c:f>Sheet1!$A$2:$A$8</c:f>
              <c:multiLvlStrCache>
                <c:ptCount val="7"/>
                <c:lvl>
                  <c:pt idx="0">
                    <c:v>M1
Baseline</c:v>
                  </c:pt>
                  <c:pt idx="1">
                    <c:v>M2
+Filters</c:v>
                  </c:pt>
                  <c:pt idx="2">
                    <c:v>M3
+Augment.</c:v>
                  </c:pt>
                  <c:pt idx="3">
                    <c:v>M4
+Dropout</c:v>
                  </c:pt>
                  <c:pt idx="4">
                    <c:v>M5
+Epochs</c:v>
                  </c:pt>
                  <c:pt idx="5">
                    <c:v>M6
Lower LR*</c:v>
                  </c:pt>
                  <c:pt idx="6">
                    <c:v>M7
Transfer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68.7</c:v>
                </c:pt>
                <c:pt idx="1">
                  <c:v>71.1</c:v>
                </c:pt>
                <c:pt idx="2">
                  <c:v>70.5</c:v>
                </c:pt>
                <c:pt idx="3">
                  <c:v>70.3</c:v>
                </c:pt>
                <c:pt idx="4">
                  <c:v>77.4</c:v>
                </c:pt>
                <c:pt idx="5">
                  <c:v>64.3</c:v>
                </c:pt>
                <c:pt idx="6">
                  <c:v>75.7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0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Welcome, project overview: 3-day CNN project on CIFAR-10, 7 models built and compared.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Dataset: CIFAR-10, 60k images, 10 classes. Solution: 7 iteratively built CNN models, best reaching 77.1% test accuracy.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4-step pipeline: load, normalize, split, augment (training only). Test set is never touched.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layer stack and explain why filter count grows while spatial size shrinks.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Story: baseline improved with more filters, then augmentation fixed overfitting, dropout added nothing extra, and extended training with early stopping gave the biggest jump.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VGG16 chosen as a standard, well-known transfer learning baseline. Frozen convolutional base + custom dense head. Result: slightly worse than the custom CNN, likely due to domain mismatch between ImageNet and CIFAR-10.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bar chart, then land on Model 5 as the winner and why.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Cat/dog confusion is the dominant error — reasonable mistake, not random noise. Model learned real patterns.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Wrap up: summarize the final result, technical challenges solved, and possible future improvements. Open for questions.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7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-182880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2011680" y="4206240"/>
            <a:ext cx="4114800" cy="4114800"/>
          </a:xfrm>
          <a:prstGeom prst="ellipse">
            <a:avLst/>
          </a:prstGeom>
          <a:solidFill>
            <a:srgbClr val="1C7293">
              <a:alpha val="3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FC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· PROJECT 1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9875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CIFAR-10 Image Classification</a:t>
            </a:r>
            <a:endParaRPr lang="en-US" sz="3800" dirty="0"/>
          </a:p>
          <a:p>
            <a:pPr indent="0" marL="0">
              <a:lnSpc>
                <a:spcPct val="105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a Convolutional Neural Network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9D6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· Train · Evaluate — a 3-day iterative modeling project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594360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Skander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Ironhack AI Engineering Bootcamp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 — Dataset &amp; Solution Overview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CIFAR-10 images into 10 categories using a CNN, built and refined iteratively.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21031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719072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60,000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images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71800" y="1600200"/>
            <a:ext cx="21031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971800" y="1719072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971800" y="22860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classes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303520" y="1600200"/>
            <a:ext cx="21031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303520" y="1719072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32×32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303520" y="22860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 resolution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200400"/>
            <a:ext cx="6949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CIFAR-10 — public benchmark dataset, University of Toronto (2009)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40080" y="356616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Classes: 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airplane · automobile · bird · cat · deer · dog · frog · horse · ship · truck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40080" y="4069080"/>
            <a:ext cx="6766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45,000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train    </a:t>
            </a:r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validation    </a:t>
            </a:r>
            <a:pPr indent="0" marL="0">
              <a:buNone/>
            </a:pPr>
            <a:r>
              <a:rPr lang="en-US" sz="1250" b="1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pPr indent="0" marL="0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test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818120" y="1600200"/>
            <a:ext cx="3566160" cy="4434840"/>
          </a:xfrm>
          <a:prstGeom prst="roundRect">
            <a:avLst>
              <a:gd name="adj" fmla="val 3077"/>
            </a:avLst>
          </a:prstGeom>
          <a:solidFill>
            <a:srgbClr val="065A82"/>
          </a:solidFill>
          <a:ln/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0" y="1828800"/>
            <a:ext cx="384048" cy="384048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8613648" y="1828800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Overview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8138160" y="2450592"/>
            <a:ext cx="146304" cy="146304"/>
          </a:xfrm>
          <a:prstGeom prst="ellipse">
            <a:avLst/>
          </a:prstGeom>
          <a:solidFill>
            <a:srgbClr val="5FCBB5"/>
          </a:solidFill>
          <a:ln/>
        </p:spPr>
      </p:sp>
      <p:sp>
        <p:nvSpPr>
          <p:cNvPr id="20" name="Text 17"/>
          <p:cNvSpPr/>
          <p:nvPr/>
        </p:nvSpPr>
        <p:spPr>
          <a:xfrm>
            <a:off x="8412480" y="2313432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7 CNN variants, one targeted change per model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8138160" y="3291840"/>
            <a:ext cx="146304" cy="146304"/>
          </a:xfrm>
          <a:prstGeom prst="ellipse">
            <a:avLst/>
          </a:prstGeom>
          <a:solidFill>
            <a:srgbClr val="5FCBB5"/>
          </a:solidFill>
          <a:ln/>
        </p:spPr>
      </p:sp>
      <p:sp>
        <p:nvSpPr>
          <p:cNvPr id="22" name="Text 19"/>
          <p:cNvSpPr/>
          <p:nvPr/>
        </p:nvSpPr>
        <p:spPr>
          <a:xfrm>
            <a:off x="8412480" y="3154680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filters, augmentation, dropout, training length, learning rate, and transfer learning (VGG16)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8138160" y="4133088"/>
            <a:ext cx="146304" cy="146304"/>
          </a:xfrm>
          <a:prstGeom prst="ellipse">
            <a:avLst/>
          </a:prstGeom>
          <a:solidFill>
            <a:srgbClr val="5FCBB5"/>
          </a:solidFill>
          <a:ln/>
        </p:spPr>
      </p:sp>
      <p:sp>
        <p:nvSpPr>
          <p:cNvPr id="24" name="Text 21"/>
          <p:cNvSpPr/>
          <p:nvPr/>
        </p:nvSpPr>
        <p:spPr>
          <a:xfrm>
            <a:off x="8412480" y="3995928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 every result to isolate what actually improves accuracy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8138160" y="4974336"/>
            <a:ext cx="146304" cy="146304"/>
          </a:xfrm>
          <a:prstGeom prst="ellipse">
            <a:avLst/>
          </a:prstGeom>
          <a:solidFill>
            <a:srgbClr val="5FCBB5"/>
          </a:solidFill>
          <a:ln/>
        </p:spPr>
      </p:sp>
      <p:sp>
        <p:nvSpPr>
          <p:cNvPr id="26" name="Text 23"/>
          <p:cNvSpPr/>
          <p:nvPr/>
        </p:nvSpPr>
        <p:spPr>
          <a:xfrm>
            <a:off x="8412480" y="4837176"/>
            <a:ext cx="28803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model: custom CNN, 77.1% test accuracy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Processing Pipeline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CIFAR-10 images to model-ready batches.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331720" cy="2331720"/>
          </a:xfrm>
          <a:prstGeom prst="roundRect">
            <a:avLst>
              <a:gd name="adj" fmla="val 4706"/>
            </a:avLst>
          </a:prstGeom>
          <a:solidFill>
            <a:srgbClr val="21295C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49908" y="2240280"/>
            <a:ext cx="512064" cy="51206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8803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77240" y="329184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60,000 images via Keras (no manual download)</a:t>
            </a:r>
            <a:endParaRPr lang="en-US" sz="100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232" y="2994660"/>
            <a:ext cx="274320" cy="27432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3291840" y="1965960"/>
            <a:ext cx="2331720" cy="2331720"/>
          </a:xfrm>
          <a:prstGeom prst="roundRect">
            <a:avLst>
              <a:gd name="adj" fmla="val 4706"/>
            </a:avLst>
          </a:prstGeom>
          <a:solidFill>
            <a:srgbClr val="21295C"/>
          </a:solidFill>
          <a:ln/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01668" y="2240280"/>
            <a:ext cx="512064" cy="51206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291840" y="28803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3429000" y="329184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Pixels scaled from [0,255] to [0,1]</a:t>
            </a:r>
            <a:endParaRPr lang="en-US" sz="10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0992" y="2994660"/>
            <a:ext cx="274320" cy="274320"/>
          </a:xfrm>
          <a:prstGeom prst="rect">
            <a:avLst/>
          </a:prstGeom>
        </p:spPr>
      </p:pic>
      <p:sp>
        <p:nvSpPr>
          <p:cNvPr id="14" name="Shape 8"/>
          <p:cNvSpPr/>
          <p:nvPr/>
        </p:nvSpPr>
        <p:spPr>
          <a:xfrm>
            <a:off x="5943600" y="1965960"/>
            <a:ext cx="2331720" cy="2331720"/>
          </a:xfrm>
          <a:prstGeom prst="roundRect">
            <a:avLst>
              <a:gd name="adj" fmla="val 4706"/>
            </a:avLst>
          </a:prstGeom>
          <a:solidFill>
            <a:srgbClr val="21295C"/>
          </a:solidFill>
          <a:ln/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3428" y="2240280"/>
            <a:ext cx="512064" cy="51206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5943600" y="28803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500" dirty="0"/>
          </a:p>
        </p:txBody>
      </p:sp>
      <p:sp>
        <p:nvSpPr>
          <p:cNvPr id="17" name="Text 10"/>
          <p:cNvSpPr/>
          <p:nvPr/>
        </p:nvSpPr>
        <p:spPr>
          <a:xfrm>
            <a:off x="6080760" y="329184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45k train / 5k validation / 10k test</a:t>
            </a:r>
            <a:endParaRPr lang="en-US" sz="100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02752" y="2994660"/>
            <a:ext cx="274320" cy="274320"/>
          </a:xfrm>
          <a:prstGeom prst="rect">
            <a:avLst/>
          </a:prstGeom>
        </p:spPr>
      </p:pic>
      <p:sp>
        <p:nvSpPr>
          <p:cNvPr id="19" name="Shape 11"/>
          <p:cNvSpPr/>
          <p:nvPr/>
        </p:nvSpPr>
        <p:spPr>
          <a:xfrm>
            <a:off x="8595360" y="1965960"/>
            <a:ext cx="2331720" cy="2331720"/>
          </a:xfrm>
          <a:prstGeom prst="roundRect">
            <a:avLst>
              <a:gd name="adj" fmla="val 4706"/>
            </a:avLst>
          </a:prstGeom>
          <a:solidFill>
            <a:srgbClr val="1C7293"/>
          </a:solidFill>
          <a:ln/>
        </p:spPr>
      </p:sp>
      <p:pic>
        <p:nvPicPr>
          <p:cNvPr id="2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5188" y="2240280"/>
            <a:ext cx="512064" cy="512064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8595360" y="28803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</a:t>
            </a:r>
            <a:endParaRPr lang="en-US" sz="1500" dirty="0"/>
          </a:p>
        </p:txBody>
      </p:sp>
      <p:sp>
        <p:nvSpPr>
          <p:cNvPr id="22" name="Text 13"/>
          <p:cNvSpPr/>
          <p:nvPr/>
        </p:nvSpPr>
        <p:spPr>
          <a:xfrm>
            <a:off x="8732520" y="3291840"/>
            <a:ext cx="2057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0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rotation, shift, horizontal flip (live, training only)</a:t>
            </a:r>
            <a:endParaRPr lang="en-US" sz="1000" dirty="0"/>
          </a:p>
        </p:txBody>
      </p:sp>
      <p:sp>
        <p:nvSpPr>
          <p:cNvPr id="23" name="Text 14"/>
          <p:cNvSpPr/>
          <p:nvPr/>
        </p:nvSpPr>
        <p:spPr>
          <a:xfrm>
            <a:off x="640080" y="47091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the official 10,000-image test set is kept fully separate — never used in training, validation, or augmentation.</a:t>
            </a:r>
            <a:endParaRPr lang="en-US" sz="1150" dirty="0"/>
          </a:p>
        </p:txBody>
      </p:sp>
      <p:sp>
        <p:nvSpPr>
          <p:cNvPr id="24" name="Text 15"/>
          <p:cNvSpPr/>
          <p:nvPr/>
        </p:nvSpPr>
        <p:spPr>
          <a:xfrm>
            <a:off x="640080" y="516636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 is applied only from Model 3 onward, and only to the training set — the validation/test sets always use the original, unaltered images to keep evaluation honest.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 Architecture — Design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structure used across all custom models (Models 1-6).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029200" cy="4434840"/>
          </a:xfrm>
          <a:prstGeom prst="roundRect">
            <a:avLst>
              <a:gd name="adj" fmla="val 2474"/>
            </a:avLst>
          </a:prstGeom>
          <a:solidFill>
            <a:srgbClr val="21295C"/>
          </a:solidFill>
          <a:ln/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182880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44752" y="182880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Stack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960120" y="2359152"/>
            <a:ext cx="4434840" cy="310896"/>
          </a:xfrm>
          <a:prstGeom prst="roundRect">
            <a:avLst>
              <a:gd name="adj" fmla="val 17647"/>
            </a:avLst>
          </a:prstGeom>
          <a:solidFill>
            <a:srgbClr val="1B3A66"/>
          </a:solidFill>
          <a:ln/>
        </p:spPr>
      </p:sp>
      <p:sp>
        <p:nvSpPr>
          <p:cNvPr id="8" name="Text 5"/>
          <p:cNvSpPr/>
          <p:nvPr/>
        </p:nvSpPr>
        <p:spPr>
          <a:xfrm>
            <a:off x="1143000" y="2359152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 32 · 3×3 + ReLU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960120" y="2743200"/>
            <a:ext cx="4434840" cy="310896"/>
          </a:xfrm>
          <a:prstGeom prst="roundRect">
            <a:avLst>
              <a:gd name="adj" fmla="val 17647"/>
            </a:avLst>
          </a:prstGeom>
          <a:solidFill>
            <a:srgbClr val="163055"/>
          </a:solidFill>
          <a:ln/>
        </p:spPr>
      </p:sp>
      <p:sp>
        <p:nvSpPr>
          <p:cNvPr id="10" name="Text 7"/>
          <p:cNvSpPr/>
          <p:nvPr/>
        </p:nvSpPr>
        <p:spPr>
          <a:xfrm>
            <a:off x="1143000" y="274320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MaxPooling 2×2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960120" y="3127248"/>
            <a:ext cx="4434840" cy="310896"/>
          </a:xfrm>
          <a:prstGeom prst="roundRect">
            <a:avLst>
              <a:gd name="adj" fmla="val 17647"/>
            </a:avLst>
          </a:prstGeom>
          <a:solidFill>
            <a:srgbClr val="1B3A66"/>
          </a:solidFill>
          <a:ln/>
        </p:spPr>
      </p:sp>
      <p:sp>
        <p:nvSpPr>
          <p:cNvPr id="12" name="Text 9"/>
          <p:cNvSpPr/>
          <p:nvPr/>
        </p:nvSpPr>
        <p:spPr>
          <a:xfrm>
            <a:off x="1143000" y="3127248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 64 · 3×3 + ReLU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960120" y="3511296"/>
            <a:ext cx="4434840" cy="310896"/>
          </a:xfrm>
          <a:prstGeom prst="roundRect">
            <a:avLst>
              <a:gd name="adj" fmla="val 17647"/>
            </a:avLst>
          </a:prstGeom>
          <a:solidFill>
            <a:srgbClr val="163055"/>
          </a:solidFill>
          <a:ln/>
        </p:spPr>
      </p:sp>
      <p:sp>
        <p:nvSpPr>
          <p:cNvPr id="14" name="Text 11"/>
          <p:cNvSpPr/>
          <p:nvPr/>
        </p:nvSpPr>
        <p:spPr>
          <a:xfrm>
            <a:off x="1143000" y="3511296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MaxPooling 2×2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960120" y="3895344"/>
            <a:ext cx="4434840" cy="310896"/>
          </a:xfrm>
          <a:prstGeom prst="roundRect">
            <a:avLst>
              <a:gd name="adj" fmla="val 17647"/>
            </a:avLst>
          </a:prstGeom>
          <a:solidFill>
            <a:srgbClr val="1B3A66"/>
          </a:solidFill>
          <a:ln/>
        </p:spPr>
      </p:sp>
      <p:sp>
        <p:nvSpPr>
          <p:cNvPr id="16" name="Text 13"/>
          <p:cNvSpPr/>
          <p:nvPr/>
        </p:nvSpPr>
        <p:spPr>
          <a:xfrm>
            <a:off x="1143000" y="3895344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 64/128 · 3×3 + ReLU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960120" y="4279392"/>
            <a:ext cx="4434840" cy="310896"/>
          </a:xfrm>
          <a:prstGeom prst="roundRect">
            <a:avLst>
              <a:gd name="adj" fmla="val 17647"/>
            </a:avLst>
          </a:prstGeom>
          <a:solidFill>
            <a:srgbClr val="163055"/>
          </a:solidFill>
          <a:ln/>
        </p:spPr>
      </p:sp>
      <p:sp>
        <p:nvSpPr>
          <p:cNvPr id="18" name="Text 15"/>
          <p:cNvSpPr/>
          <p:nvPr/>
        </p:nvSpPr>
        <p:spPr>
          <a:xfrm>
            <a:off x="1143000" y="4279392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</a:t>
            </a:r>
            <a:endParaRPr lang="en-US" sz="1150" dirty="0"/>
          </a:p>
        </p:txBody>
      </p:sp>
      <p:sp>
        <p:nvSpPr>
          <p:cNvPr id="19" name="Shape 16"/>
          <p:cNvSpPr/>
          <p:nvPr/>
        </p:nvSpPr>
        <p:spPr>
          <a:xfrm>
            <a:off x="960120" y="4663440"/>
            <a:ext cx="4434840" cy="310896"/>
          </a:xfrm>
          <a:prstGeom prst="roundRect">
            <a:avLst>
              <a:gd name="adj" fmla="val 17647"/>
            </a:avLst>
          </a:prstGeom>
          <a:solidFill>
            <a:srgbClr val="1B3A66"/>
          </a:solidFill>
          <a:ln/>
        </p:spPr>
      </p:sp>
      <p:sp>
        <p:nvSpPr>
          <p:cNvPr id="20" name="Text 17"/>
          <p:cNvSpPr/>
          <p:nvPr/>
        </p:nvSpPr>
        <p:spPr>
          <a:xfrm>
            <a:off x="1143000" y="466344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64 + ReLU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960120" y="5047488"/>
            <a:ext cx="4434840" cy="310896"/>
          </a:xfrm>
          <a:prstGeom prst="roundRect">
            <a:avLst>
              <a:gd name="adj" fmla="val 17647"/>
            </a:avLst>
          </a:prstGeom>
          <a:solidFill>
            <a:srgbClr val="163055"/>
          </a:solidFill>
          <a:ln/>
        </p:spPr>
      </p:sp>
      <p:sp>
        <p:nvSpPr>
          <p:cNvPr id="22" name="Text 19"/>
          <p:cNvSpPr/>
          <p:nvPr/>
        </p:nvSpPr>
        <p:spPr>
          <a:xfrm>
            <a:off x="1143000" y="5047488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4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 10 · Softmax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960120" y="544068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Optimizer: Adam  ·  Loss: sparse categorical crossentropy  ·  Batch size: 64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5989320" y="173736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5" name="Text 22"/>
          <p:cNvSpPr/>
          <p:nvPr/>
        </p:nvSpPr>
        <p:spPr>
          <a:xfrm>
            <a:off x="5989320" y="17373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26" name="Text 23"/>
          <p:cNvSpPr/>
          <p:nvPr/>
        </p:nvSpPr>
        <p:spPr>
          <a:xfrm>
            <a:off x="6492240" y="1682496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grow with depth</a:t>
            </a:r>
            <a:endParaRPr lang="en-US" sz="1350" dirty="0"/>
          </a:p>
        </p:txBody>
      </p:sp>
      <p:sp>
        <p:nvSpPr>
          <p:cNvPr id="27" name="Text 24"/>
          <p:cNvSpPr/>
          <p:nvPr/>
        </p:nvSpPr>
        <p:spPr>
          <a:xfrm>
            <a:off x="6492240" y="201168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→ 64 → 128: simple edge/color detectors early, abstract class-specific shapes deeper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5989320" y="283464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6"/>
          <p:cNvSpPr/>
          <p:nvPr/>
        </p:nvSpPr>
        <p:spPr>
          <a:xfrm>
            <a:off x="5989320" y="28346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492240" y="2779776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shrinks each pool</a:t>
            </a:r>
            <a:endParaRPr lang="en-US" sz="1350" dirty="0"/>
          </a:p>
        </p:txBody>
      </p:sp>
      <p:sp>
        <p:nvSpPr>
          <p:cNvPr id="31" name="Text 28"/>
          <p:cNvSpPr/>
          <p:nvPr/>
        </p:nvSpPr>
        <p:spPr>
          <a:xfrm>
            <a:off x="6492240" y="310896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pixel position matters less than presence of a feature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5989320" y="393192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3" name="Text 30"/>
          <p:cNvSpPr/>
          <p:nvPr/>
        </p:nvSpPr>
        <p:spPr>
          <a:xfrm>
            <a:off x="5989320" y="39319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492240" y="3877056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 + Dense head</a:t>
            </a:r>
            <a:endParaRPr lang="en-US" sz="1350" dirty="0"/>
          </a:p>
        </p:txBody>
      </p:sp>
      <p:sp>
        <p:nvSpPr>
          <p:cNvPr id="35" name="Text 32"/>
          <p:cNvSpPr/>
          <p:nvPr/>
        </p:nvSpPr>
        <p:spPr>
          <a:xfrm>
            <a:off x="6492240" y="420624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all detected features into a final 10-class decision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5989320" y="5029200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7" name="Text 34"/>
          <p:cNvSpPr/>
          <p:nvPr/>
        </p:nvSpPr>
        <p:spPr>
          <a:xfrm>
            <a:off x="5989320" y="5029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38" name="Text 35"/>
          <p:cNvSpPr/>
          <p:nvPr/>
        </p:nvSpPr>
        <p:spPr>
          <a:xfrm>
            <a:off x="6492240" y="4974336"/>
            <a:ext cx="4663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output</a:t>
            </a:r>
            <a:endParaRPr lang="en-US" sz="1350" dirty="0"/>
          </a:p>
        </p:txBody>
      </p:sp>
      <p:sp>
        <p:nvSpPr>
          <p:cNvPr id="39" name="Text 36"/>
          <p:cNvSpPr/>
          <p:nvPr/>
        </p:nvSpPr>
        <p:spPr>
          <a:xfrm>
            <a:off x="6492240" y="5303520"/>
            <a:ext cx="4709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raw scores into class probabilities summing to 100%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Baseline to Final Model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targeted change per model — the story of what improved accuracy.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17373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9385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40080" y="26517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68.7%</a:t>
            </a:r>
            <a:endParaRPr lang="en-US" sz="18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86584" y="2395728"/>
            <a:ext cx="237744" cy="237744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2633472" y="1828800"/>
            <a:ext cx="17373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2633472" y="19385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M2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2633472" y="22860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+Filters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633472" y="26517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71.1%</a:t>
            </a:r>
            <a:endParaRPr lang="en-US" sz="18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976" y="2395728"/>
            <a:ext cx="237744" cy="23774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4626864" y="1828800"/>
            <a:ext cx="17373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4626864" y="19385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M3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4626864" y="22860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+Augment.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4626864" y="26517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70.5%</a:t>
            </a:r>
            <a:endParaRPr lang="en-US" sz="18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73368" y="2395728"/>
            <a:ext cx="237744" cy="237744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620256" y="1828800"/>
            <a:ext cx="173736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6620256" y="19385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M4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6620256" y="22860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+Dropout</a:t>
            </a:r>
            <a:endParaRPr lang="en-US" sz="950" dirty="0"/>
          </a:p>
        </p:txBody>
      </p:sp>
      <p:sp>
        <p:nvSpPr>
          <p:cNvPr id="22" name="Text 17"/>
          <p:cNvSpPr/>
          <p:nvPr/>
        </p:nvSpPr>
        <p:spPr>
          <a:xfrm>
            <a:off x="6620256" y="26517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70.3%</a:t>
            </a:r>
            <a:endParaRPr lang="en-US" sz="18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2395728"/>
            <a:ext cx="237744" cy="237744"/>
          </a:xfrm>
          <a:prstGeom prst="rect">
            <a:avLst/>
          </a:prstGeom>
        </p:spPr>
      </p:pic>
      <p:sp>
        <p:nvSpPr>
          <p:cNvPr id="24" name="Shape 18"/>
          <p:cNvSpPr/>
          <p:nvPr/>
        </p:nvSpPr>
        <p:spPr>
          <a:xfrm>
            <a:off x="8613648" y="1828800"/>
            <a:ext cx="1737360" cy="1417320"/>
          </a:xfrm>
          <a:prstGeom prst="roundRect">
            <a:avLst>
              <a:gd name="adj" fmla="val 6452"/>
            </a:avLst>
          </a:prstGeom>
          <a:solidFill>
            <a:srgbClr val="5FCBB5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Text 19"/>
          <p:cNvSpPr/>
          <p:nvPr/>
        </p:nvSpPr>
        <p:spPr>
          <a:xfrm>
            <a:off x="8613648" y="1938528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M5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8613648" y="22860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129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+25 Epochs</a:t>
            </a:r>
            <a:endParaRPr lang="en-US" sz="950" dirty="0"/>
          </a:p>
        </p:txBody>
      </p:sp>
      <p:sp>
        <p:nvSpPr>
          <p:cNvPr id="27" name="Text 21"/>
          <p:cNvSpPr/>
          <p:nvPr/>
        </p:nvSpPr>
        <p:spPr>
          <a:xfrm>
            <a:off x="8613648" y="265176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77.4%</a:t>
            </a:r>
            <a:endParaRPr lang="en-US" sz="1800" dirty="0"/>
          </a:p>
        </p:txBody>
      </p:sp>
      <p:sp>
        <p:nvSpPr>
          <p:cNvPr id="28" name="Text 22"/>
          <p:cNvSpPr/>
          <p:nvPr/>
        </p:nvSpPr>
        <p:spPr>
          <a:xfrm>
            <a:off x="640080" y="3429000"/>
            <a:ext cx="9875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5 = winner: +6.9% from extended training alone, more than any other single change.</a:t>
            </a:r>
            <a:endParaRPr lang="en-US" sz="1150" dirty="0"/>
          </a:p>
        </p:txBody>
      </p:sp>
      <p:sp>
        <p:nvSpPr>
          <p:cNvPr id="29" name="Shape 23"/>
          <p:cNvSpPr/>
          <p:nvPr/>
        </p:nvSpPr>
        <p:spPr>
          <a:xfrm>
            <a:off x="640080" y="3977640"/>
            <a:ext cx="10515600" cy="2057400"/>
          </a:xfrm>
          <a:prstGeom prst="roundRect">
            <a:avLst>
              <a:gd name="adj" fmla="val 5333"/>
            </a:avLst>
          </a:prstGeom>
          <a:solidFill>
            <a:srgbClr val="21295C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4206240"/>
            <a:ext cx="365760" cy="36576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417320" y="42062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Optimization Techniques Used</a:t>
            </a:r>
            <a:endParaRPr lang="en-US" sz="1400" dirty="0"/>
          </a:p>
        </p:txBody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4400" y="4736592"/>
            <a:ext cx="219456" cy="21945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207008" y="47091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optimizer —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FC1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learning rate, default lr=0.001</a:t>
            </a:r>
            <a:endParaRPr lang="en-US" sz="1050" dirty="0"/>
          </a:p>
        </p:txBody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0" y="4736592"/>
            <a:ext cx="219456" cy="219456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6236208" y="4709160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Stopping —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FC1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patience=5 on val_accuracy, restores best weights</a:t>
            </a:r>
            <a:endParaRPr lang="en-US" sz="1050" dirty="0"/>
          </a:p>
        </p:txBody>
      </p:sp>
      <p:pic>
        <p:nvPicPr>
          <p:cNvPr id="36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4400" y="5358384"/>
            <a:ext cx="219456" cy="219456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1207008" y="5330952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Augmentation —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FC1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regularization, nearly removed overfitting</a:t>
            </a:r>
            <a:endParaRPr lang="en-US" sz="1050" dirty="0"/>
          </a:p>
        </p:txBody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43600" y="5358384"/>
            <a:ext cx="219456" cy="219456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6236208" y="5330952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 tuning — </a:t>
            </a:r>
            <a:pPr indent="0" marL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AFC1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tested 0.0005 — no improvement over default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Transfer Learning — VGG16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alternative approach: reuse a pretrained network instead of training from scratch.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12064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86968" y="1801368"/>
            <a:ext cx="438912" cy="438912"/>
          </a:xfrm>
          <a:prstGeom prst="ellipse">
            <a:avLst/>
          </a:prstGeom>
          <a:solidFill>
            <a:srgbClr val="065A8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856232"/>
            <a:ext cx="329184" cy="32918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8288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Pretrained model: VGG16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914400" y="2423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VGG16?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914400" y="274320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Well-established, widely benchmarked ImageNet-pretrained CNN with a simple, well-documented architecture — a natural first choice for evaluating whether transfer learning outperforms a custom model on this task.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914400" y="37033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Modifications made:</a:t>
            </a:r>
            <a:endParaRPr lang="en-US" sz="1250" dirty="0"/>
          </a:p>
        </p:txBody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4041648"/>
            <a:ext cx="182880" cy="1828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170432" y="3950208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resized from 32×32 to 96×96 (VGG16's minimum usable input)</a:t>
            </a:r>
            <a:endParaRPr lang="en-US" sz="10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4480560"/>
            <a:ext cx="182880" cy="1828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170432" y="4389120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Convolutional base loaded with ImageNet weights and frozen (not trainable)</a:t>
            </a:r>
            <a:endParaRPr lang="en-US" sz="100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919472"/>
            <a:ext cx="182880" cy="1828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170432" y="4828032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1000-class output head removed (include_top=False)</a:t>
            </a:r>
            <a:endParaRPr lang="en-US" sz="1000" dirty="0"/>
          </a:p>
        </p:txBody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400" y="5358384"/>
            <a:ext cx="182880" cy="18288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170432" y="5266944"/>
            <a:ext cx="4434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head added: Flatten → Dense(64, ReLU) → Dense(10, Softmax)</a:t>
            </a:r>
            <a:endParaRPr lang="en-US" sz="1000" dirty="0"/>
          </a:p>
        </p:txBody>
      </p:sp>
      <p:sp>
        <p:nvSpPr>
          <p:cNvPr id="19" name="Shape 12"/>
          <p:cNvSpPr/>
          <p:nvPr/>
        </p:nvSpPr>
        <p:spPr>
          <a:xfrm>
            <a:off x="5989320" y="1600200"/>
            <a:ext cx="5257800" cy="4434840"/>
          </a:xfrm>
          <a:prstGeom prst="roundRect">
            <a:avLst>
              <a:gd name="adj" fmla="val 2474"/>
            </a:avLst>
          </a:prstGeom>
          <a:solidFill>
            <a:srgbClr val="21295C"/>
          </a:solidFill>
          <a:ln/>
        </p:spPr>
      </p:sp>
      <p:sp>
        <p:nvSpPr>
          <p:cNvPr id="20" name="Text 13"/>
          <p:cNvSpPr/>
          <p:nvPr/>
        </p:nvSpPr>
        <p:spPr>
          <a:xfrm>
            <a:off x="6309360" y="18745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C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200" dirty="0"/>
          </a:p>
        </p:txBody>
      </p:sp>
      <p:sp>
        <p:nvSpPr>
          <p:cNvPr id="21" name="Text 14"/>
          <p:cNvSpPr/>
          <p:nvPr/>
        </p:nvSpPr>
        <p:spPr>
          <a:xfrm>
            <a:off x="6309360" y="2194560"/>
            <a:ext cx="3657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75.8%</a:t>
            </a:r>
            <a:endParaRPr lang="en-US" sz="4600" dirty="0"/>
          </a:p>
        </p:txBody>
      </p:sp>
      <p:sp>
        <p:nvSpPr>
          <p:cNvPr id="22" name="Text 15"/>
          <p:cNvSpPr/>
          <p:nvPr/>
        </p:nvSpPr>
        <p:spPr>
          <a:xfrm>
            <a:off x="6309360" y="29718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D7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 — vs. 77.1% for the best custom CNN (Model 5)</a:t>
            </a:r>
            <a:endParaRPr lang="en-US" sz="1150" dirty="0"/>
          </a:p>
        </p:txBody>
      </p:sp>
      <p:sp>
        <p:nvSpPr>
          <p:cNvPr id="23" name="Shape 16"/>
          <p:cNvSpPr/>
          <p:nvPr/>
        </p:nvSpPr>
        <p:spPr>
          <a:xfrm>
            <a:off x="6309360" y="3566160"/>
            <a:ext cx="4663440" cy="0"/>
          </a:xfrm>
          <a:prstGeom prst="line">
            <a:avLst/>
          </a:prstGeom>
          <a:noFill/>
          <a:ln w="12700">
            <a:solidFill>
              <a:srgbClr val="3A4A78"/>
            </a:solidFill>
            <a:prstDash val="solid"/>
          </a:ln>
        </p:spPr>
      </p:sp>
      <p:sp>
        <p:nvSpPr>
          <p:cNvPr id="24" name="Text 17"/>
          <p:cNvSpPr/>
          <p:nvPr/>
        </p:nvSpPr>
        <p:spPr>
          <a:xfrm>
            <a:off x="6309360" y="3703320"/>
            <a:ext cx="4663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underperformed the custom CNN, with a larger train/validation gap (~9.6% vs ~2.3%).</a:t>
            </a:r>
            <a:endParaRPr lang="en-US" sz="1150" dirty="0"/>
          </a:p>
        </p:txBody>
      </p:sp>
      <p:sp>
        <p:nvSpPr>
          <p:cNvPr id="25" name="Text 18"/>
          <p:cNvSpPr/>
          <p:nvPr/>
        </p:nvSpPr>
        <p:spPr>
          <a:xfrm>
            <a:off x="6309360" y="4206240"/>
            <a:ext cx="46634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AFC1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Likely cause: VGG16 was pretrained on large, natural photographs (ImageNet). CIFAR-10's small, low-resolution images — even after upscaling — differ enough from that domain that the pretrained features transferred less effectively than expected.</a:t>
            </a:r>
            <a:endParaRPr lang="en-US" sz="1100" dirty="0"/>
          </a:p>
        </p:txBody>
      </p:sp>
      <p:sp>
        <p:nvSpPr>
          <p:cNvPr id="26" name="Text 19"/>
          <p:cNvSpPr/>
          <p:nvPr/>
        </p:nvSpPr>
        <p:spPr>
          <a:xfrm>
            <a:off x="6309360" y="55778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FC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transfer learning is not automatically superior — domain match matters.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All 7 Models — Validation Accuracy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targeted change per model to isolate what actually works.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600200"/>
          <a:ext cx="731520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183880" y="1600200"/>
            <a:ext cx="3337560" cy="429768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000000">
                <a:alpha val="12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03920" y="1874520"/>
            <a:ext cx="457200" cy="457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098280" y="1901952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8503920" y="242316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5</a:t>
            </a:r>
            <a:endParaRPr lang="en-US" sz="2400" dirty="0"/>
          </a:p>
        </p:txBody>
      </p:sp>
      <p:sp>
        <p:nvSpPr>
          <p:cNvPr id="9" name="Text 5"/>
          <p:cNvSpPr/>
          <p:nvPr/>
        </p:nvSpPr>
        <p:spPr>
          <a:xfrm>
            <a:off x="8503920" y="2926080"/>
            <a:ext cx="2743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F8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77.4%</a:t>
            </a:r>
            <a:endParaRPr lang="en-US" sz="4400" dirty="0"/>
          </a:p>
        </p:txBody>
      </p:sp>
      <p:sp>
        <p:nvSpPr>
          <p:cNvPr id="10" name="Text 6"/>
          <p:cNvSpPr/>
          <p:nvPr/>
        </p:nvSpPr>
        <p:spPr>
          <a:xfrm>
            <a:off x="8503920" y="3611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accuracy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8503920" y="4114800"/>
            <a:ext cx="274320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8503920" y="4251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+ 25 epochs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8503920" y="457200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Early Stopping restored best weights, keeping the train/val gap under 3%.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548640" y="60350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*Model 6: training repeatedly interrupted by a Colab connection issue — not fully comparable.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1E2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— Where Does It Struggle?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640080" y="96012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on the 10,000-image test set, Model 5.</a:t>
            </a:r>
            <a:endParaRPr lang="en-US" sz="1300" dirty="0"/>
          </a:p>
        </p:txBody>
      </p:sp>
      <p:pic>
        <p:nvPicPr>
          <p:cNvPr id="4" name="Image 0" descr="img/Bildschirmfoto_2026-07-03_um_00_41_4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417320"/>
            <a:ext cx="4903262" cy="443484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263640" y="1463040"/>
            <a:ext cx="525780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6492240" y="153619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Strongest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6492240" y="186537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automobile (90%), ship, truck, frog, horse — clearly separated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263640" y="2560320"/>
            <a:ext cx="525780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92240" y="263347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Weakest: cat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92240" y="296265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52% recall — most confused with dog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263640" y="3657600"/>
            <a:ext cx="525780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492240" y="373075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confusion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492240" y="405993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 ↔ dog (both furry, four-legged pets)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263640" y="4754880"/>
            <a:ext cx="5257800" cy="932688"/>
          </a:xfrm>
          <a:prstGeom prst="roundRect">
            <a:avLst>
              <a:gd name="adj" fmla="val 980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6492240" y="482803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6492240" y="5157216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automobile ↔ truck (similar vehicle shape)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6263640" y="59893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accuracy: 77.1%  ·  F1 range 0.57 (cat) – 0.87 (automobile/ship)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2286000"/>
            <a:ext cx="5486400" cy="54864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5029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 &amp; Conclusion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4173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FC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SOLVED</a:t>
            </a:r>
            <a:endParaRPr lang="en-US" sz="1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874520"/>
            <a:ext cx="329184" cy="3291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81965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Colab session drops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234440" y="213055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1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in-memory data → saved everything to Google Drive</a:t>
            </a:r>
            <a:endParaRPr lang="en-US" sz="10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743200"/>
            <a:ext cx="329184" cy="32918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268833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Repeated training interruptions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1234440" y="299923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1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with automatic ModelCheckpoint saving</a:t>
            </a:r>
            <a:endParaRPr lang="en-US" sz="105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3611880"/>
            <a:ext cx="329184" cy="329184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34440" y="3557016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Overfitting (Models 1-2)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1234440" y="386791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FC1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Solved via data augmentation</a:t>
            </a:r>
            <a:endParaRPr lang="en-US" sz="1050" dirty="0"/>
          </a:p>
        </p:txBody>
      </p:sp>
      <p:sp>
        <p:nvSpPr>
          <p:cNvPr id="14" name="Shape 9"/>
          <p:cNvSpPr/>
          <p:nvPr/>
        </p:nvSpPr>
        <p:spPr>
          <a:xfrm>
            <a:off x="6492240" y="1417320"/>
            <a:ext cx="4937760" cy="466344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52400" dist="50800" dir="5400000">
              <a:srgbClr val="000000">
                <a:alpha val="20000"/>
              </a:srgbClr>
            </a:outerShdw>
          </a:effectLst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0" y="1691640"/>
            <a:ext cx="411480" cy="411480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7315200" y="170992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6766560" y="2148840"/>
            <a:ext cx="4389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77.1% test accuracy</a:t>
            </a:r>
            <a:endParaRPr lang="en-US" sz="2100" dirty="0"/>
          </a:p>
        </p:txBody>
      </p:sp>
      <p:sp>
        <p:nvSpPr>
          <p:cNvPr id="18" name="Text 12"/>
          <p:cNvSpPr/>
          <p:nvPr/>
        </p:nvSpPr>
        <p:spPr>
          <a:xfrm>
            <a:off x="6766560" y="2651760"/>
            <a:ext cx="4389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CNN · data augmentation · 25 epochs · early stopping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6766560" y="3200400"/>
            <a:ext cx="43891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6766560" y="33375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25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0" y="3721608"/>
            <a:ext cx="201168" cy="20116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7086600" y="37033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epochs &amp; augmentation types</a:t>
            </a:r>
            <a:endParaRPr lang="en-US" sz="12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66560" y="4178808"/>
            <a:ext cx="201168" cy="201168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7086600" y="41605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Fine-tune upper VGG16 layers</a:t>
            </a:r>
            <a:endParaRPr lang="en-US" sz="12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6560" y="4636008"/>
            <a:ext cx="201168" cy="20116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7086600" y="46177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Model 5 + Model 7</a:t>
            </a:r>
            <a:endParaRPr lang="en-US" sz="1200" dirty="0"/>
          </a:p>
        </p:txBody>
      </p:sp>
      <p:sp>
        <p:nvSpPr>
          <p:cNvPr id="27" name="Text 18"/>
          <p:cNvSpPr/>
          <p:nvPr/>
        </p:nvSpPr>
        <p:spPr>
          <a:xfrm>
            <a:off x="6766560" y="530352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code, report &amp; analysis on GitHub</a:t>
            </a:r>
            <a:endParaRPr lang="en-US" sz="1050" dirty="0"/>
          </a:p>
        </p:txBody>
      </p:sp>
      <p:sp>
        <p:nvSpPr>
          <p:cNvPr id="28" name="Text 19"/>
          <p:cNvSpPr/>
          <p:nvPr/>
        </p:nvSpPr>
        <p:spPr>
          <a:xfrm>
            <a:off x="731520" y="61722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 — questions?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CIFAR-10 Image Classification with CNN</dc:title>
  <dc:subject>PptxGenJS Presentation</dc:subject>
  <dc:creator>Skander</dc:creator>
  <cp:lastModifiedBy>Skander</cp:lastModifiedBy>
  <cp:revision>1</cp:revision>
  <dcterms:created xsi:type="dcterms:W3CDTF">2026-07-03T07:58:01Z</dcterms:created>
  <dcterms:modified xsi:type="dcterms:W3CDTF">2026-07-03T07:58:01Z</dcterms:modified>
</cp:coreProperties>
</file>