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Validation Accuracy (%)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5FCBB5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M1
Baseline</c:v>
                  </c:pt>
                  <c:pt idx="1">
                    <c:v>M2
+Filters</c:v>
                  </c:pt>
                  <c:pt idx="2">
                    <c:v>M3
+Augment.</c:v>
                  </c:pt>
                  <c:pt idx="3">
                    <c:v>M4
+Dropout</c:v>
                  </c:pt>
                  <c:pt idx="4">
                    <c:v>M5
+Epochs</c:v>
                  </c:pt>
                  <c:pt idx="5">
                    <c:v>M6
Lower LR*</c:v>
                  </c:pt>
                  <c:pt idx="6">
                    <c:v>M7
Transfer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68.7</c:v>
                </c:pt>
                <c:pt idx="1">
                  <c:v>71.1</c:v>
                </c:pt>
                <c:pt idx="2">
                  <c:v>70.5</c:v>
                </c:pt>
                <c:pt idx="3">
                  <c:v>70.3</c:v>
                </c:pt>
                <c:pt idx="4">
                  <c:v>77.4</c:v>
                </c:pt>
                <c:pt idx="5">
                  <c:v>64.3</c:v>
                </c:pt>
                <c:pt idx="6">
                  <c:v>75.7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Welcome, project overview: 3-day CNN project on CIFAR-10, 7 models built and compared.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CIFAR-10: 60k images, 10 balanced classes, standard benchmark dataset, not something Ironhack built themselves.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3-step iterative approach and walk through the base CNN architecture stack.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bar chart, then land on Model 5 as the winner and why.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lesson: not every 'best practice' technique automatically helps — test and measure.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Cat/dog confusion is the dominant error — reasonable mistake, not random noise. Model learned real patterns.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 up: summarize the final result, technical challenges solved, and possible future improvements. Open for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828800"/>
            <a:ext cx="5486400" cy="5486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206240"/>
            <a:ext cx="4114800" cy="4114800"/>
          </a:xfrm>
          <a:prstGeom prst="ellipse">
            <a:avLst/>
          </a:prstGeom>
          <a:solidFill>
            <a:srgbClr val="1C7293">
              <a:alpha val="3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FC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· PROJECT 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2377440"/>
            <a:ext cx="9875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CIFAR-10 Image Classification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a Convolutional Neural Network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41605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· Train · Evaluate — a 3-day iterative modeling project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594360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Skander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Ironhack AI Engineering Bootcamp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 &amp; Dataset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images into 10 categories using a CNN trained on CIFAR-10.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1031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87452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60,000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5146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images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971800" y="1737360"/>
            <a:ext cx="21031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971800" y="187452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971800" y="25146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classes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303520" y="1737360"/>
            <a:ext cx="21031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303520" y="187452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32×32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303520" y="25146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resolution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0080" y="352044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45,000</a:t>
            </a:r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train</a:t>
            </a:r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5,000</a:t>
            </a:r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validation</a:t>
            </a:r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10,000</a:t>
            </a:r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test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402336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Classes:  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airplane · automobile · bird · cat · deer · dog · frog · horse · ship · truck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818120" y="1737360"/>
            <a:ext cx="3566160" cy="3108960"/>
          </a:xfrm>
          <a:prstGeom prst="roundRect">
            <a:avLst>
              <a:gd name="adj" fmla="val 3529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27000" dist="38100" dir="5400000">
              <a:srgbClr val="000000">
                <a:alpha val="15000"/>
              </a:srgbClr>
            </a:outerShdw>
          </a:effectLst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0" y="2057400"/>
            <a:ext cx="502920" cy="50292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8823960" y="201168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6,000 images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class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8183880" y="2788920"/>
            <a:ext cx="2926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C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Officially pre-split and pre-labeled — no manual annotation required. CIFAR-10 is a public benchmark dataset from the University of Toronto (2009), the standard first dataset for learning CNNs.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Approach &amp;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Iterative, one-change-at-a-time strategy across 7 models.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80160" y="1819656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simple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280160" y="216712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baseline CNN (3 conv blocks)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68680" y="2331720"/>
            <a:ext cx="0" cy="566928"/>
          </a:xfrm>
          <a:prstGeom prst="line">
            <a:avLst/>
          </a:prstGeom>
          <a:noFill/>
          <a:ln w="19050">
            <a:solidFill>
              <a:srgbClr val="C7D3DA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640080" y="29260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80160" y="2871216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one thing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280160" y="321868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Filters, augmentation, dropout, epochs, LR, transfer learning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68680" y="3383280"/>
            <a:ext cx="0" cy="566928"/>
          </a:xfrm>
          <a:prstGeom prst="line">
            <a:avLst/>
          </a:prstGeom>
          <a:noFill/>
          <a:ln w="19050">
            <a:solidFill>
              <a:srgbClr val="C7D3DA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640080" y="39776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80160" y="3922776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&amp; compare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280160" y="427024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accuracy + notes after every model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0" y="1600200"/>
            <a:ext cx="4983480" cy="4251960"/>
          </a:xfrm>
          <a:prstGeom prst="roundRect">
            <a:avLst>
              <a:gd name="adj" fmla="val 2581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27000" dist="38100" dir="5400000">
              <a:srgbClr val="000000">
                <a:alpha val="15000"/>
              </a:srgbClr>
            </a:outerShdw>
          </a:effectLst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1828800"/>
            <a:ext cx="365760" cy="36576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7205472" y="18288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CNN Design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6720840" y="2359152"/>
            <a:ext cx="4343400" cy="283464"/>
          </a:xfrm>
          <a:prstGeom prst="roundRect">
            <a:avLst>
              <a:gd name="adj" fmla="val 19355"/>
            </a:avLst>
          </a:prstGeom>
          <a:solidFill>
            <a:srgbClr val="1B3A66"/>
          </a:solidFill>
          <a:ln/>
        </p:spPr>
      </p:sp>
      <p:sp>
        <p:nvSpPr>
          <p:cNvPr id="22" name="Text 19"/>
          <p:cNvSpPr/>
          <p:nvPr/>
        </p:nvSpPr>
        <p:spPr>
          <a:xfrm>
            <a:off x="6903720" y="2359152"/>
            <a:ext cx="40233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Conv2D 32 · 3×3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720840" y="2702052"/>
            <a:ext cx="4343400" cy="283464"/>
          </a:xfrm>
          <a:prstGeom prst="roundRect">
            <a:avLst>
              <a:gd name="adj" fmla="val 19355"/>
            </a:avLst>
          </a:prstGeom>
          <a:solidFill>
            <a:srgbClr val="163055"/>
          </a:solidFill>
          <a:ln/>
        </p:spPr>
      </p:sp>
      <p:sp>
        <p:nvSpPr>
          <p:cNvPr id="24" name="Text 21"/>
          <p:cNvSpPr/>
          <p:nvPr/>
        </p:nvSpPr>
        <p:spPr>
          <a:xfrm>
            <a:off x="6903720" y="2702052"/>
            <a:ext cx="40233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MaxPooling 2×2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720840" y="3044952"/>
            <a:ext cx="4343400" cy="283464"/>
          </a:xfrm>
          <a:prstGeom prst="roundRect">
            <a:avLst>
              <a:gd name="adj" fmla="val 19355"/>
            </a:avLst>
          </a:prstGeom>
          <a:solidFill>
            <a:srgbClr val="1B3A66"/>
          </a:solidFill>
          <a:ln/>
        </p:spPr>
      </p:sp>
      <p:sp>
        <p:nvSpPr>
          <p:cNvPr id="26" name="Text 23"/>
          <p:cNvSpPr/>
          <p:nvPr/>
        </p:nvSpPr>
        <p:spPr>
          <a:xfrm>
            <a:off x="6903720" y="3044952"/>
            <a:ext cx="40233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Conv2D 64 · 3×3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6720840" y="3387852"/>
            <a:ext cx="4343400" cy="283464"/>
          </a:xfrm>
          <a:prstGeom prst="roundRect">
            <a:avLst>
              <a:gd name="adj" fmla="val 19355"/>
            </a:avLst>
          </a:prstGeom>
          <a:solidFill>
            <a:srgbClr val="163055"/>
          </a:solidFill>
          <a:ln/>
        </p:spPr>
      </p:sp>
      <p:sp>
        <p:nvSpPr>
          <p:cNvPr id="28" name="Text 25"/>
          <p:cNvSpPr/>
          <p:nvPr/>
        </p:nvSpPr>
        <p:spPr>
          <a:xfrm>
            <a:off x="6903720" y="3387852"/>
            <a:ext cx="40233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MaxPooling 2×2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6720840" y="3730752"/>
            <a:ext cx="4343400" cy="283464"/>
          </a:xfrm>
          <a:prstGeom prst="roundRect">
            <a:avLst>
              <a:gd name="adj" fmla="val 19355"/>
            </a:avLst>
          </a:prstGeom>
          <a:solidFill>
            <a:srgbClr val="1B3A66"/>
          </a:solidFill>
          <a:ln/>
        </p:spPr>
      </p:sp>
      <p:sp>
        <p:nvSpPr>
          <p:cNvPr id="30" name="Text 27"/>
          <p:cNvSpPr/>
          <p:nvPr/>
        </p:nvSpPr>
        <p:spPr>
          <a:xfrm>
            <a:off x="6903720" y="3730752"/>
            <a:ext cx="40233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Conv2D 64/128 · 3×3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720840" y="4073652"/>
            <a:ext cx="4343400" cy="283464"/>
          </a:xfrm>
          <a:prstGeom prst="roundRect">
            <a:avLst>
              <a:gd name="adj" fmla="val 19355"/>
            </a:avLst>
          </a:prstGeom>
          <a:solidFill>
            <a:srgbClr val="163055"/>
          </a:solidFill>
          <a:ln/>
        </p:spPr>
      </p:sp>
      <p:sp>
        <p:nvSpPr>
          <p:cNvPr id="32" name="Text 29"/>
          <p:cNvSpPr/>
          <p:nvPr/>
        </p:nvSpPr>
        <p:spPr>
          <a:xfrm>
            <a:off x="6903720" y="4073652"/>
            <a:ext cx="40233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720840" y="4416552"/>
            <a:ext cx="4343400" cy="283464"/>
          </a:xfrm>
          <a:prstGeom prst="roundRect">
            <a:avLst>
              <a:gd name="adj" fmla="val 19355"/>
            </a:avLst>
          </a:prstGeom>
          <a:solidFill>
            <a:srgbClr val="1B3A66"/>
          </a:solidFill>
          <a:ln/>
        </p:spPr>
      </p:sp>
      <p:sp>
        <p:nvSpPr>
          <p:cNvPr id="34" name="Text 31"/>
          <p:cNvSpPr/>
          <p:nvPr/>
        </p:nvSpPr>
        <p:spPr>
          <a:xfrm>
            <a:off x="6903720" y="4416552"/>
            <a:ext cx="40233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64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6720840" y="4759452"/>
            <a:ext cx="4343400" cy="283464"/>
          </a:xfrm>
          <a:prstGeom prst="roundRect">
            <a:avLst>
              <a:gd name="adj" fmla="val 19355"/>
            </a:avLst>
          </a:prstGeom>
          <a:solidFill>
            <a:srgbClr val="163055"/>
          </a:solidFill>
          <a:ln/>
        </p:spPr>
      </p:sp>
      <p:sp>
        <p:nvSpPr>
          <p:cNvPr id="36" name="Text 33"/>
          <p:cNvSpPr/>
          <p:nvPr/>
        </p:nvSpPr>
        <p:spPr>
          <a:xfrm>
            <a:off x="6903720" y="4759452"/>
            <a:ext cx="40233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10 · Softmax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6720840" y="5193792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grow with depth (32→64→128); resolution shrinks each pool — simple edges early, abstract shapes later.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7 Models — Validation Accuracy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targeted change per model to isolate what actually works.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731520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183880" y="1691640"/>
            <a:ext cx="3337560" cy="429768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1965960"/>
            <a:ext cx="457200" cy="457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098280" y="199339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8503920" y="25146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5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8503920" y="301752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CB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77.4%</a:t>
            </a:r>
            <a:endParaRPr lang="en-US" sz="4400" dirty="0"/>
          </a:p>
        </p:txBody>
      </p:sp>
      <p:sp>
        <p:nvSpPr>
          <p:cNvPr id="10" name="Text 6"/>
          <p:cNvSpPr/>
          <p:nvPr/>
        </p:nvSpPr>
        <p:spPr>
          <a:xfrm>
            <a:off x="8503920" y="3703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accuracy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8503920" y="4206240"/>
            <a:ext cx="27432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503920" y="4343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 + 25 epochs
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8503920" y="466344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Early Stopping restored best weights, keeping the train/val gap under 3%.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548640" y="61722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*Model 6: training repeatedly interrupted by a Colab connection issue — not fully comparable.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Actually Helped?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one variable at a time revealed which changes really mattered.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12080" cy="4160520"/>
          </a:xfrm>
          <a:prstGeom prst="roundRect">
            <a:avLst>
              <a:gd name="adj" fmla="val 2637"/>
            </a:avLst>
          </a:prstGeom>
          <a:solidFill>
            <a:srgbClr val="EAF7F1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965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8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468880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24231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Augmentation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463040" y="2834640"/>
            <a:ext cx="4160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eliminated overfitting (train/val gap flipped negative)</a:t>
            </a:r>
            <a:endParaRPr lang="en-US" sz="11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069080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63040" y="40233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training time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463040" y="4434840"/>
            <a:ext cx="4160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vs 10 epochs + early stopping → biggest single gain: +6.9%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080760" y="1783080"/>
            <a:ext cx="5440680" cy="4160520"/>
          </a:xfrm>
          <a:prstGeom prst="roundRect">
            <a:avLst>
              <a:gd name="adj" fmla="val 2637"/>
            </a:avLst>
          </a:prstGeom>
          <a:solidFill>
            <a:srgbClr val="FBECEB"/>
          </a:solidFill>
          <a:ln/>
        </p:spPr>
      </p:sp>
      <p:sp>
        <p:nvSpPr>
          <p:cNvPr id="13" name="Text 9"/>
          <p:cNvSpPr/>
          <p:nvPr/>
        </p:nvSpPr>
        <p:spPr>
          <a:xfrm>
            <a:off x="6355080" y="1965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DIDN'T HELP</a:t>
            </a:r>
            <a:endParaRPr lang="en-US" sz="13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2468880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03720" y="242316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on top of augmentation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6903720" y="2834640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extra benefit once augmentation already controlled overfitting</a:t>
            </a:r>
            <a:endParaRPr lang="en-US" sz="11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4069080"/>
            <a:ext cx="384048" cy="38404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03720" y="402336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(VGG16)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6903720" y="4434840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Slightly worse + more overfitting — ImageNet photos differ from CIFAR-10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— Where Does It Struggle?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on the 10,000-image test set, Model 5.</a:t>
            </a:r>
            <a:endParaRPr lang="en-US" sz="1300" dirty="0"/>
          </a:p>
        </p:txBody>
      </p:sp>
      <p:pic>
        <p:nvPicPr>
          <p:cNvPr id="4" name="Image 0" descr="img/Bildschirmfoto_2026-07-03_um_00_41_4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4903262" cy="44348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263640" y="1508760"/>
            <a:ext cx="525780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492240" y="158191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92240" y="1911096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automobile (90%), ship, truck, frog, horse — clearly separated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263640" y="2606040"/>
            <a:ext cx="525780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92240" y="267919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Weakest: cat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92240" y="3008376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52% recall — most confused with dog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25780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492240" y="377647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confusion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492240" y="4105656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 ↔ dog (both furry, four-legged pets)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263640" y="4800600"/>
            <a:ext cx="525780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492240" y="487375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492240" y="5202936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automobile ↔ truck (similar vehicle shape)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263640" y="60350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accuracy: 77.1%  ·  F1 range 0.57 (cat) – 0.87 (automobile/ship)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02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Challenges, Conclusion &amp; Next Steps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417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C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SOLVED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74520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819656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 session drops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234440" y="213055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1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in-memory data → saved everything to Google Drive</a:t>
            </a:r>
            <a:endParaRPr lang="en-US" sz="10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743200"/>
            <a:ext cx="329184" cy="3291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34440" y="2688336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training interruptions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1234440" y="299923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1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Solved with automatic ModelCheckpoint saving</a:t>
            </a:r>
            <a:endParaRPr lang="en-US" sz="10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611880"/>
            <a:ext cx="329184" cy="32918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34440" y="3557016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 (Models 1-2)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1234440" y="386791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1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Solved via data augmentation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6492240" y="1417320"/>
            <a:ext cx="4937760" cy="466344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00000">
                <a:alpha val="20000"/>
              </a:srgbClr>
            </a:outerShdw>
          </a:effectLst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1691640"/>
            <a:ext cx="411480" cy="41148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315200" y="17099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6766560" y="214884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77.1% test accuracy</a:t>
            </a:r>
            <a:endParaRPr lang="en-US" sz="2100" dirty="0"/>
          </a:p>
        </p:txBody>
      </p:sp>
      <p:sp>
        <p:nvSpPr>
          <p:cNvPr id="18" name="Text 12"/>
          <p:cNvSpPr/>
          <p:nvPr/>
        </p:nvSpPr>
        <p:spPr>
          <a:xfrm>
            <a:off x="6766560" y="265176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CNN · data augmentation · 25 epochs · early stopping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6766560" y="3200400"/>
            <a:ext cx="4389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6766560" y="3337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5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0" y="3721608"/>
            <a:ext cx="201168" cy="20116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086600" y="37033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epochs &amp; augmentation types</a:t>
            </a:r>
            <a:endParaRPr lang="en-US" sz="12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6560" y="4178808"/>
            <a:ext cx="201168" cy="201168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7086600" y="41605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upper VGG16 layers</a:t>
            </a:r>
            <a:endParaRPr lang="en-US" sz="1200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6560" y="4636008"/>
            <a:ext cx="201168" cy="201168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7086600" y="46177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Model 5 + Model 7</a:t>
            </a:r>
            <a:endParaRPr lang="en-US" sz="1200" dirty="0"/>
          </a:p>
        </p:txBody>
      </p:sp>
      <p:sp>
        <p:nvSpPr>
          <p:cNvPr id="27" name="Text 18"/>
          <p:cNvSpPr/>
          <p:nvPr/>
        </p:nvSpPr>
        <p:spPr>
          <a:xfrm>
            <a:off x="6766560" y="530352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code, report &amp; analysis on GitHub</a:t>
            </a:r>
            <a:endParaRPr lang="en-US" sz="1050" dirty="0"/>
          </a:p>
        </p:txBody>
      </p:sp>
      <p:sp>
        <p:nvSpPr>
          <p:cNvPr id="28" name="Text 19"/>
          <p:cNvSpPr/>
          <p:nvPr/>
        </p:nvSpPr>
        <p:spPr>
          <a:xfrm>
            <a:off x="731520" y="61722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— questions?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CIFAR-10 Image Classification with CNN</dc:title>
  <dc:subject>PptxGenJS Presentation</dc:subject>
  <dc:creator>Skander</dc:creator>
  <cp:lastModifiedBy>Skander</cp:lastModifiedBy>
  <cp:revision>1</cp:revision>
  <dcterms:created xsi:type="dcterms:W3CDTF">2026-07-02T23:47:46Z</dcterms:created>
  <dcterms:modified xsi:type="dcterms:W3CDTF">2026-07-02T23:47:46Z</dcterms:modified>
</cp:coreProperties>
</file>